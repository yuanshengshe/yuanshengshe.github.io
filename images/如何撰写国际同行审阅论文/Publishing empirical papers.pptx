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6" r:id="rId2"/>
    <p:sldId id="306" r:id="rId3"/>
    <p:sldId id="257" r:id="rId4"/>
    <p:sldId id="307" r:id="rId5"/>
    <p:sldId id="293" r:id="rId6"/>
    <p:sldId id="278" r:id="rId7"/>
    <p:sldId id="288" r:id="rId8"/>
    <p:sldId id="285" r:id="rId9"/>
    <p:sldId id="286" r:id="rId10"/>
    <p:sldId id="303" r:id="rId11"/>
    <p:sldId id="321" r:id="rId12"/>
    <p:sldId id="269" r:id="rId13"/>
    <p:sldId id="273" r:id="rId14"/>
    <p:sldId id="301" r:id="rId15"/>
    <p:sldId id="290" r:id="rId16"/>
    <p:sldId id="279" r:id="rId17"/>
    <p:sldId id="270" r:id="rId18"/>
    <p:sldId id="283" r:id="rId19"/>
    <p:sldId id="284" r:id="rId20"/>
    <p:sldId id="265" r:id="rId21"/>
  </p:sldIdLst>
  <p:sldSz cx="9144000" cy="6858000" type="screen4x3"/>
  <p:notesSz cx="7099300" cy="10234613"/>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833" autoAdjust="0"/>
  </p:normalViewPr>
  <p:slideViewPr>
    <p:cSldViewPr>
      <p:cViewPr varScale="1">
        <p:scale>
          <a:sx n="64" d="100"/>
          <a:sy n="64" d="100"/>
        </p:scale>
        <p:origin x="1517" y="5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9CBFC9F4-5CB5-494B-A58F-4E5F14C03DFB}" type="datetimeFigureOut">
              <a:rPr lang="en-US" smtClean="0"/>
              <a:pPr/>
              <a:t>4/6/2026</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16971C08-1981-4C61-A42B-30706D04A4C2}" type="slidenum">
              <a:rPr lang="en-US" smtClean="0"/>
              <a:pPr/>
              <a:t>‹#›</a:t>
            </a:fld>
            <a:endParaRPr lang="en-US"/>
          </a:p>
        </p:txBody>
      </p:sp>
    </p:spTree>
    <p:extLst>
      <p:ext uri="{BB962C8B-B14F-4D97-AF65-F5344CB8AC3E}">
        <p14:creationId xmlns:p14="http://schemas.microsoft.com/office/powerpoint/2010/main" val="8994970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08A3C2BE-4326-4FCC-A5EF-0DE679083DCE}" type="datetimeFigureOut">
              <a:rPr lang="en-US" smtClean="0"/>
              <a:pPr/>
              <a:t>4/6/2026</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02BBE62B-5C13-4EE0-82AC-3EE2BD091AC9}" type="slidenum">
              <a:rPr lang="en-US" smtClean="0"/>
              <a:pPr/>
              <a:t>‹#›</a:t>
            </a:fld>
            <a:endParaRPr lang="en-US"/>
          </a:p>
        </p:txBody>
      </p:sp>
    </p:spTree>
    <p:extLst>
      <p:ext uri="{BB962C8B-B14F-4D97-AF65-F5344CB8AC3E}">
        <p14:creationId xmlns:p14="http://schemas.microsoft.com/office/powerpoint/2010/main" val="3721074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riting.umn.edu/sws/assets/pdf/quicktips/titles.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nytimes.com/1984/05/19/nyregion/rutgers-professor-resigning-after-plagiarism-accusation.html"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www.dailybruin.com/index.php/article/2009/05/ucla-professor-plagiarizes" TargetMode="External"/><Relationship Id="rId5" Type="http://schemas.openxmlformats.org/officeDocument/2006/relationships/hyperlink" Target="http://chronicle.com/article/Professor-Whose-Article-Was/42521" TargetMode="External"/><Relationship Id="rId4" Type="http://schemas.openxmlformats.org/officeDocument/2006/relationships/hyperlink" Target="http://www.thecrimson.com/article/1988/11/29/med-school-professor-resigns-after-admitting/"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1</a:t>
            </a:fld>
            <a:endParaRPr lang="en-US"/>
          </a:p>
        </p:txBody>
      </p:sp>
    </p:spTree>
    <p:extLst>
      <p:ext uri="{BB962C8B-B14F-4D97-AF65-F5344CB8AC3E}">
        <p14:creationId xmlns:p14="http://schemas.microsoft.com/office/powerpoint/2010/main" val="1733798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is the purpose of this article?</a:t>
            </a:r>
          </a:p>
          <a:p>
            <a:r>
              <a:rPr lang="en-US" dirty="0"/>
              <a:t>2. Why is it important to investigate or examine the subject of the article?</a:t>
            </a:r>
          </a:p>
          <a:p>
            <a:r>
              <a:rPr lang="en-US" dirty="0"/>
              <a:t>3. How are the authors carrying out the task? Are their methods and comments appropriate and adequate to the task?</a:t>
            </a:r>
          </a:p>
          <a:p>
            <a:r>
              <a:rPr lang="en-US" dirty="0"/>
              <a:t>4. What do they claim to have found out? Are the findings clearly stated?</a:t>
            </a:r>
          </a:p>
          <a:p>
            <a:r>
              <a:rPr lang="en-US" dirty="0"/>
              <a:t>5. How does this advance knowledge in the field?</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Look at the organization of the article. </a:t>
            </a:r>
          </a:p>
          <a:p>
            <a:r>
              <a:rPr lang="en-US" sz="1200" b="0" i="0" u="none" strike="noStrike" kern="1200" baseline="0" dirty="0">
                <a:solidFill>
                  <a:schemeClr val="tx1"/>
                </a:solidFill>
                <a:latin typeface="+mn-lt"/>
                <a:ea typeface="+mn-ea"/>
                <a:cs typeface="+mn-cs"/>
              </a:rPr>
              <a:t>Can you find answers to the above questions quickly and easily? </a:t>
            </a:r>
          </a:p>
          <a:p>
            <a:r>
              <a:rPr lang="en-US" sz="1200" b="0" i="0" u="none" strike="noStrike" kern="1200" baseline="0" dirty="0">
                <a:solidFill>
                  <a:schemeClr val="tx1"/>
                </a:solidFill>
                <a:latin typeface="+mn-lt"/>
                <a:ea typeface="+mn-ea"/>
                <a:cs typeface="+mn-cs"/>
              </a:rPr>
              <a:t>Can you trace the logic consistently from the opening paragraphs to the conclusion?</a:t>
            </a:r>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2</a:t>
            </a:fld>
            <a:endParaRPr lang="en-US"/>
          </a:p>
        </p:txBody>
      </p:sp>
    </p:spTree>
    <p:extLst>
      <p:ext uri="{BB962C8B-B14F-4D97-AF65-F5344CB8AC3E}">
        <p14:creationId xmlns:p14="http://schemas.microsoft.com/office/powerpoint/2010/main" val="1983714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3</a:t>
            </a:fld>
            <a:endParaRPr lang="en-US"/>
          </a:p>
        </p:txBody>
      </p:sp>
    </p:spTree>
    <p:extLst>
      <p:ext uri="{BB962C8B-B14F-4D97-AF65-F5344CB8AC3E}">
        <p14:creationId xmlns:p14="http://schemas.microsoft.com/office/powerpoint/2010/main" val="2247079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http://writing.umn.edu/sws/assets/pdf/quicktips/titles.pdf</a:t>
            </a:r>
            <a:endParaRPr lang="en-US" dirty="0"/>
          </a:p>
          <a:p>
            <a:endParaRPr lang="en-US" dirty="0"/>
          </a:p>
          <a:p>
            <a:r>
              <a:rPr lang="en-US" dirty="0"/>
              <a:t>First, it predicts content. Second, it catches the reader's interest. Third, it reflects the tone or slant of the piece of writing. Fourth, it contains keywords that will make it easy to access by a computer search.</a:t>
            </a:r>
          </a:p>
          <a:p>
            <a:endParaRPr lang="en-US" dirty="0"/>
          </a:p>
          <a:p>
            <a:r>
              <a:rPr lang="en-US" dirty="0"/>
              <a:t>https://blog.efpsa.org/2012/09/01/how-to-write-a-good-title-for-journal-articles/</a:t>
            </a:r>
          </a:p>
          <a:p>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4</a:t>
            </a:fld>
            <a:endParaRPr lang="en-US"/>
          </a:p>
        </p:txBody>
      </p:sp>
    </p:spTree>
    <p:extLst>
      <p:ext uri="{BB962C8B-B14F-4D97-AF65-F5344CB8AC3E}">
        <p14:creationId xmlns:p14="http://schemas.microsoft.com/office/powerpoint/2010/main" val="2669664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5</a:t>
            </a:fld>
            <a:endParaRPr lang="en-US"/>
          </a:p>
        </p:txBody>
      </p:sp>
    </p:spTree>
    <p:extLst>
      <p:ext uri="{BB962C8B-B14F-4D97-AF65-F5344CB8AC3E}">
        <p14:creationId xmlns:p14="http://schemas.microsoft.com/office/powerpoint/2010/main" val="2669664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6</a:t>
            </a:fld>
            <a:endParaRPr lang="en-US"/>
          </a:p>
        </p:txBody>
      </p:sp>
    </p:spTree>
    <p:extLst>
      <p:ext uri="{BB962C8B-B14F-4D97-AF65-F5344CB8AC3E}">
        <p14:creationId xmlns:p14="http://schemas.microsoft.com/office/powerpoint/2010/main" val="3607988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8</a:t>
            </a:fld>
            <a:endParaRPr lang="en-US"/>
          </a:p>
        </p:txBody>
      </p:sp>
    </p:spTree>
    <p:extLst>
      <p:ext uri="{BB962C8B-B14F-4D97-AF65-F5344CB8AC3E}">
        <p14:creationId xmlns:p14="http://schemas.microsoft.com/office/powerpoint/2010/main" val="4079537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9</a:t>
            </a:fld>
            <a:endParaRPr lang="en-US"/>
          </a:p>
        </p:txBody>
      </p:sp>
    </p:spTree>
    <p:extLst>
      <p:ext uri="{BB962C8B-B14F-4D97-AF65-F5344CB8AC3E}">
        <p14:creationId xmlns:p14="http://schemas.microsoft.com/office/powerpoint/2010/main" val="10303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10</a:t>
            </a:fld>
            <a:endParaRPr lang="en-US"/>
          </a:p>
        </p:txBody>
      </p:sp>
    </p:spTree>
    <p:extLst>
      <p:ext uri="{BB962C8B-B14F-4D97-AF65-F5344CB8AC3E}">
        <p14:creationId xmlns:p14="http://schemas.microsoft.com/office/powerpoint/2010/main" val="3070308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and followers</a:t>
            </a:r>
          </a:p>
        </p:txBody>
      </p:sp>
      <p:sp>
        <p:nvSpPr>
          <p:cNvPr id="4" name="Slide Number Placeholder 3"/>
          <p:cNvSpPr>
            <a:spLocks noGrp="1"/>
          </p:cNvSpPr>
          <p:nvPr>
            <p:ph type="sldNum" sz="quarter" idx="10"/>
          </p:nvPr>
        </p:nvSpPr>
        <p:spPr/>
        <p:txBody>
          <a:bodyPr/>
          <a:lstStyle/>
          <a:p>
            <a:fld id="{02BBE62B-5C13-4EE0-82AC-3EE2BD091AC9}" type="slidenum">
              <a:rPr lang="en-US" smtClean="0"/>
              <a:pPr/>
              <a:t>12</a:t>
            </a:fld>
            <a:endParaRPr lang="en-US"/>
          </a:p>
        </p:txBody>
      </p:sp>
    </p:spTree>
    <p:extLst>
      <p:ext uri="{BB962C8B-B14F-4D97-AF65-F5344CB8AC3E}">
        <p14:creationId xmlns:p14="http://schemas.microsoft.com/office/powerpoint/2010/main" val="1497814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search titles</a:t>
            </a:r>
          </a:p>
        </p:txBody>
      </p:sp>
      <p:sp>
        <p:nvSpPr>
          <p:cNvPr id="4" name="Slide Number Placeholder 3"/>
          <p:cNvSpPr>
            <a:spLocks noGrp="1"/>
          </p:cNvSpPr>
          <p:nvPr>
            <p:ph type="sldNum" sz="quarter" idx="10"/>
          </p:nvPr>
        </p:nvSpPr>
        <p:spPr/>
        <p:txBody>
          <a:bodyPr/>
          <a:lstStyle/>
          <a:p>
            <a:fld id="{02BBE62B-5C13-4EE0-82AC-3EE2BD091AC9}" type="slidenum">
              <a:rPr lang="en-US" smtClean="0"/>
              <a:pPr/>
              <a:t>13</a:t>
            </a:fld>
            <a:endParaRPr lang="en-US"/>
          </a:p>
        </p:txBody>
      </p:sp>
    </p:spTree>
    <p:extLst>
      <p:ext uri="{BB962C8B-B14F-4D97-AF65-F5344CB8AC3E}">
        <p14:creationId xmlns:p14="http://schemas.microsoft.com/office/powerpoint/2010/main" val="550311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14</a:t>
            </a:fld>
            <a:endParaRPr lang="en-US"/>
          </a:p>
        </p:txBody>
      </p:sp>
    </p:spTree>
    <p:extLst>
      <p:ext uri="{BB962C8B-B14F-4D97-AF65-F5344CB8AC3E}">
        <p14:creationId xmlns:p14="http://schemas.microsoft.com/office/powerpoint/2010/main" val="2764753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16</a:t>
            </a:fld>
            <a:endParaRPr lang="en-US"/>
          </a:p>
        </p:txBody>
      </p:sp>
    </p:spTree>
    <p:extLst>
      <p:ext uri="{BB962C8B-B14F-4D97-AF65-F5344CB8AC3E}">
        <p14:creationId xmlns:p14="http://schemas.microsoft.com/office/powerpoint/2010/main" val="2362965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hlinkClick r:id="rId3"/>
              </a:rPr>
              <a:t>http://www.nytimes.com/1984/05/19/nyregion/rutgers-professor-resigning-after-plagiarism-accusation.html</a:t>
            </a:r>
            <a:endParaRPr lang="en-US" dirty="0"/>
          </a:p>
          <a:p>
            <a:r>
              <a:rPr lang="en-US" dirty="0">
                <a:hlinkClick r:id="rId4"/>
              </a:rPr>
              <a:t>http://www.thecrimson.com/article/1988/11/29/med-school-professor-resigns-after-admitting/</a:t>
            </a:r>
            <a:endParaRPr lang="en-US" dirty="0"/>
          </a:p>
          <a:p>
            <a:r>
              <a:rPr lang="en-US" dirty="0">
                <a:hlinkClick r:id="rId5"/>
              </a:rPr>
              <a:t>http://chronicle.com/article/Professor-Whose-Article-Was/42521</a:t>
            </a:r>
            <a:endParaRPr lang="en-US" dirty="0"/>
          </a:p>
          <a:p>
            <a:r>
              <a:rPr lang="en-US" dirty="0">
                <a:hlinkClick r:id="rId6"/>
              </a:rPr>
              <a:t>http://www.dailybruin.com/index.php/article/2009/05/ucla-professor-plagiarizes</a:t>
            </a:r>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17</a:t>
            </a:fld>
            <a:endParaRPr lang="en-US"/>
          </a:p>
        </p:txBody>
      </p:sp>
    </p:spTree>
    <p:extLst>
      <p:ext uri="{BB962C8B-B14F-4D97-AF65-F5344CB8AC3E}">
        <p14:creationId xmlns:p14="http://schemas.microsoft.com/office/powerpoint/2010/main" val="1837721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18</a:t>
            </a:fld>
            <a:endParaRPr lang="en-US"/>
          </a:p>
        </p:txBody>
      </p:sp>
    </p:spTree>
    <p:extLst>
      <p:ext uri="{BB962C8B-B14F-4D97-AF65-F5344CB8AC3E}">
        <p14:creationId xmlns:p14="http://schemas.microsoft.com/office/powerpoint/2010/main" val="2069984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With citation</a:t>
            </a:r>
          </a:p>
          <a:p>
            <a:r>
              <a:rPr lang="en-US" dirty="0"/>
              <a:t>With quotation</a:t>
            </a:r>
          </a:p>
          <a:p>
            <a:r>
              <a:rPr lang="en-US" dirty="0"/>
              <a:t>Without page number</a:t>
            </a:r>
          </a:p>
          <a:p>
            <a:r>
              <a:rPr lang="en-US" dirty="0"/>
              <a:t>Revising</a:t>
            </a:r>
            <a:r>
              <a:rPr lang="en-US" baseline="0" dirty="0"/>
              <a:t> a few words</a:t>
            </a:r>
          </a:p>
          <a:p>
            <a:r>
              <a:rPr lang="en-US" baseline="0" dirty="0"/>
              <a:t>fine</a:t>
            </a:r>
            <a:endParaRPr lang="en-US" dirty="0"/>
          </a:p>
        </p:txBody>
      </p:sp>
      <p:sp>
        <p:nvSpPr>
          <p:cNvPr id="4" name="Slide Number Placeholder 3"/>
          <p:cNvSpPr>
            <a:spLocks noGrp="1"/>
          </p:cNvSpPr>
          <p:nvPr>
            <p:ph type="sldNum" sz="quarter" idx="10"/>
          </p:nvPr>
        </p:nvSpPr>
        <p:spPr/>
        <p:txBody>
          <a:bodyPr/>
          <a:lstStyle/>
          <a:p>
            <a:fld id="{02BBE62B-5C13-4EE0-82AC-3EE2BD091AC9}" type="slidenum">
              <a:rPr lang="en-US" smtClean="0"/>
              <a:pPr/>
              <a:t>19</a:t>
            </a:fld>
            <a:endParaRPr lang="en-US"/>
          </a:p>
        </p:txBody>
      </p:sp>
    </p:spTree>
    <p:extLst>
      <p:ext uri="{BB962C8B-B14F-4D97-AF65-F5344CB8AC3E}">
        <p14:creationId xmlns:p14="http://schemas.microsoft.com/office/powerpoint/2010/main" val="3700889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BE62B-5C13-4EE0-82AC-3EE2BD091AC9}" type="slidenum">
              <a:rPr lang="en-US" smtClean="0"/>
              <a:pPr/>
              <a:t>20</a:t>
            </a:fld>
            <a:endParaRPr lang="en-US"/>
          </a:p>
        </p:txBody>
      </p:sp>
    </p:spTree>
    <p:extLst>
      <p:ext uri="{BB962C8B-B14F-4D97-AF65-F5344CB8AC3E}">
        <p14:creationId xmlns:p14="http://schemas.microsoft.com/office/powerpoint/2010/main" val="198276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2C73B599-F72F-4A6E-9FEF-6CCF9B00B002}" type="datetimeFigureOut">
              <a:rPr lang="en-US" smtClean="0"/>
              <a:pPr/>
              <a:t>4/6/2026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78F8904B-F001-46F7-993A-6176CDAF7E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C73B599-F72F-4A6E-9FEF-6CCF9B00B002}"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C73B599-F72F-4A6E-9FEF-6CCF9B00B002}"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8904B-F001-46F7-993A-6176CDAF7E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C73B599-F72F-4A6E-9FEF-6CCF9B00B002}"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C73B599-F72F-4A6E-9FEF-6CCF9B00B002}"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2C73B599-F72F-4A6E-9FEF-6CCF9B00B002}"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73B599-F72F-4A6E-9FEF-6CCF9B00B002}"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C73B599-F72F-4A6E-9FEF-6CCF9B00B002}"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C73B599-F72F-4A6E-9FEF-6CCF9B00B002}"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78F8904B-F001-46F7-993A-6176CDAF7E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C73B599-F72F-4A6E-9FEF-6CCF9B00B002}"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C73B599-F72F-4A6E-9FEF-6CCF9B00B002}"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8904B-F001-46F7-993A-6176CDAF7E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C73B599-F72F-4A6E-9FEF-6CCF9B00B002}" type="datetimeFigureOut">
              <a:rPr lang="en-US" smtClean="0"/>
              <a:pPr/>
              <a:t>4/6/2026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78F8904B-F001-46F7-993A-6176CDAF7E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5400" dirty="0"/>
              <a:t>Tips for Publishing Papers in Refereed Journals</a:t>
            </a:r>
          </a:p>
        </p:txBody>
      </p:sp>
      <p:sp>
        <p:nvSpPr>
          <p:cNvPr id="3" name="Subtitle 2"/>
          <p:cNvSpPr>
            <a:spLocks noGrp="1"/>
          </p:cNvSpPr>
          <p:nvPr>
            <p:ph type="subTitle" idx="1"/>
          </p:nvPr>
        </p:nvSpPr>
        <p:spPr>
          <a:xfrm>
            <a:off x="533400" y="3505200"/>
            <a:ext cx="7854696" cy="2133600"/>
          </a:xfrm>
        </p:spPr>
        <p:txBody>
          <a:bodyPr>
            <a:normAutofit fontScale="85000" lnSpcReduction="20000"/>
          </a:bodyPr>
          <a:lstStyle/>
          <a:p>
            <a:endParaRPr lang="en-US" dirty="0"/>
          </a:p>
          <a:p>
            <a:pPr algn="ctr"/>
            <a:r>
              <a:rPr lang="en-US" dirty="0" err="1"/>
              <a:t>Xinyu</a:t>
            </a:r>
            <a:r>
              <a:rPr lang="en-US" dirty="0"/>
              <a:t> (Jason) Cao</a:t>
            </a:r>
          </a:p>
          <a:p>
            <a:pPr algn="ctr"/>
            <a:r>
              <a:rPr lang="en-US" dirty="0"/>
              <a:t>Editor in Chief, Transportation Research Today</a:t>
            </a:r>
          </a:p>
          <a:p>
            <a:pPr algn="ctr"/>
            <a:r>
              <a:rPr lang="en-US" dirty="0"/>
              <a:t>Associate Editor, Transport Policy</a:t>
            </a:r>
          </a:p>
          <a:p>
            <a:pPr algn="ctr"/>
            <a:r>
              <a:rPr lang="en-US" dirty="0"/>
              <a:t>Associate Editor, Journal of Planning Education and Research</a:t>
            </a:r>
          </a:p>
          <a:p>
            <a:pPr algn="ctr"/>
            <a:r>
              <a:rPr lang="en-US" dirty="0"/>
              <a:t>Co-Editor in Chief, Transportation Research </a:t>
            </a:r>
            <a:r>
              <a:rPr lang="en-US"/>
              <a:t>Part D (2018-2025)</a:t>
            </a:r>
            <a:endParaRPr lang="en-US" dirty="0"/>
          </a:p>
          <a:p>
            <a:pPr algn="ctr"/>
            <a:endParaRPr lang="en-US" dirty="0"/>
          </a:p>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How to Review a Journal Article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What is the purpose of this article?</a:t>
            </a:r>
          </a:p>
          <a:p>
            <a:r>
              <a:rPr lang="en-US" dirty="0"/>
              <a:t>Why is it important to investigate or examine the subject of the article?</a:t>
            </a:r>
          </a:p>
          <a:p>
            <a:r>
              <a:rPr lang="en-US" dirty="0"/>
              <a:t>How are the authors carrying out the task? Are their methods and comments appropriate and adequate to the task?</a:t>
            </a:r>
          </a:p>
          <a:p>
            <a:r>
              <a:rPr lang="en-US" dirty="0"/>
              <a:t>What do they claim to have found out? Are the findings clearly stated?</a:t>
            </a:r>
          </a:p>
          <a:p>
            <a:r>
              <a:rPr lang="en-US" dirty="0"/>
              <a:t>How does this advance knowledge in the field?</a:t>
            </a:r>
          </a:p>
          <a:p>
            <a:pPr marL="393192" lvl="1" indent="0">
              <a:buNone/>
            </a:pPr>
            <a:endParaRPr lang="en-US" dirty="0"/>
          </a:p>
          <a:p>
            <a:pPr marL="393192" lvl="1" indent="0">
              <a:buNone/>
            </a:pPr>
            <a:r>
              <a:rPr lang="en-US" dirty="0"/>
              <a:t>By Robert M. Terry at University of Richmond</a:t>
            </a:r>
          </a:p>
        </p:txBody>
      </p:sp>
    </p:spTree>
    <p:extLst>
      <p:ext uri="{BB962C8B-B14F-4D97-AF65-F5344CB8AC3E}">
        <p14:creationId xmlns:p14="http://schemas.microsoft.com/office/powerpoint/2010/main" val="1737572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Paper sections (title, keywords, abstract, introduction, literature review, conclusions)</a:t>
            </a:r>
          </a:p>
          <a:p>
            <a:r>
              <a:rPr lang="en-US" dirty="0"/>
              <a:t>How to frame and write a paper?</a:t>
            </a:r>
          </a:p>
          <a:p>
            <a:r>
              <a:rPr lang="en-US" dirty="0"/>
              <a:t>Plagiarism</a:t>
            </a:r>
          </a:p>
          <a:p>
            <a:r>
              <a:rPr lang="en-US" dirty="0"/>
              <a:t>Tips</a:t>
            </a:r>
          </a:p>
          <a:p>
            <a:endParaRPr lang="en-US" dirty="0"/>
          </a:p>
          <a:p>
            <a:r>
              <a:rPr lang="en-US" dirty="0"/>
              <a:t>Caveat: these may not be applicable to all fields and all papers.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Effective Title</a:t>
            </a:r>
          </a:p>
        </p:txBody>
      </p:sp>
      <p:sp>
        <p:nvSpPr>
          <p:cNvPr id="3" name="Content Placeholder 2"/>
          <p:cNvSpPr>
            <a:spLocks noGrp="1"/>
          </p:cNvSpPr>
          <p:nvPr>
            <p:ph idx="1"/>
          </p:nvPr>
        </p:nvSpPr>
        <p:spPr/>
        <p:txBody>
          <a:bodyPr/>
          <a:lstStyle/>
          <a:p>
            <a:r>
              <a:rPr lang="en-US"/>
              <a:t>Concise </a:t>
            </a:r>
            <a:r>
              <a:rPr lang="en-US" dirty="0"/>
              <a:t>(more downloads)</a:t>
            </a:r>
          </a:p>
          <a:p>
            <a:r>
              <a:rPr lang="en-US" dirty="0"/>
              <a:t>Informative – content, keywords, jargon, acronyms</a:t>
            </a:r>
          </a:p>
          <a:p>
            <a:r>
              <a:rPr lang="en-US" dirty="0"/>
              <a:t>A writing hook</a:t>
            </a:r>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18B19E2A-634B-1377-73B9-6B99D62F66F4}"/>
              </a:ext>
            </a:extLst>
          </p:cNvPr>
          <p:cNvPicPr>
            <a:picLocks noChangeAspect="1"/>
          </p:cNvPicPr>
          <p:nvPr/>
        </p:nvPicPr>
        <p:blipFill>
          <a:blip r:embed="rId3"/>
          <a:stretch>
            <a:fillRect/>
          </a:stretch>
        </p:blipFill>
        <p:spPr>
          <a:xfrm>
            <a:off x="2057400" y="3625886"/>
            <a:ext cx="6731346" cy="2686188"/>
          </a:xfrm>
          <a:prstGeom prst="rect">
            <a:avLst/>
          </a:prstGeom>
        </p:spPr>
      </p:pic>
    </p:spTree>
    <p:extLst>
      <p:ext uri="{BB962C8B-B14F-4D97-AF65-F5344CB8AC3E}">
        <p14:creationId xmlns:p14="http://schemas.microsoft.com/office/powerpoint/2010/main" val="388780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Title and keywords</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What are the keywords used for?</a:t>
            </a:r>
          </a:p>
          <a:p>
            <a:r>
              <a:rPr lang="en-US" dirty="0"/>
              <a:t>Balance the needs between readers and (editors)</a:t>
            </a:r>
          </a:p>
          <a:p>
            <a:endParaRPr lang="en-US" dirty="0"/>
          </a:p>
        </p:txBody>
      </p:sp>
      <p:pic>
        <p:nvPicPr>
          <p:cNvPr id="7" name="Picture 6">
            <a:extLst>
              <a:ext uri="{FF2B5EF4-FFF2-40B4-BE49-F238E27FC236}">
                <a16:creationId xmlns:a16="http://schemas.microsoft.com/office/drawing/2014/main" id="{4D59716D-1401-6C98-E0D6-703800DF0C8D}"/>
              </a:ext>
            </a:extLst>
          </p:cNvPr>
          <p:cNvPicPr>
            <a:picLocks noChangeAspect="1"/>
          </p:cNvPicPr>
          <p:nvPr/>
        </p:nvPicPr>
        <p:blipFill>
          <a:blip r:embed="rId3"/>
          <a:stretch>
            <a:fillRect/>
          </a:stretch>
        </p:blipFill>
        <p:spPr>
          <a:xfrm>
            <a:off x="1295400" y="1940074"/>
            <a:ext cx="6858000" cy="3070839"/>
          </a:xfrm>
          <a:prstGeom prst="rect">
            <a:avLst/>
          </a:prstGeom>
        </p:spPr>
      </p:pic>
    </p:spTree>
    <p:extLst>
      <p:ext uri="{BB962C8B-B14F-4D97-AF65-F5344CB8AC3E}">
        <p14:creationId xmlns:p14="http://schemas.microsoft.com/office/powerpoint/2010/main" val="214292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3" name="Content Placeholder 2"/>
          <p:cNvSpPr>
            <a:spLocks noGrp="1"/>
          </p:cNvSpPr>
          <p:nvPr>
            <p:ph idx="1"/>
          </p:nvPr>
        </p:nvSpPr>
        <p:spPr/>
        <p:txBody>
          <a:bodyPr>
            <a:normAutofit/>
          </a:bodyPr>
          <a:lstStyle/>
          <a:p>
            <a:r>
              <a:rPr lang="en-US" dirty="0"/>
              <a:t>Why is it important? Editor, reviewer, reader </a:t>
            </a:r>
          </a:p>
          <a:p>
            <a:pPr lvl="0"/>
            <a:r>
              <a:rPr lang="en-US" dirty="0"/>
              <a:t>Succinct: 100 words maximum (</a:t>
            </a:r>
            <a:r>
              <a:rPr lang="en-US" dirty="0" err="1"/>
              <a:t>JPER</a:t>
            </a:r>
            <a:r>
              <a:rPr lang="en-US" dirty="0"/>
              <a:t>)</a:t>
            </a:r>
          </a:p>
          <a:p>
            <a:pPr lvl="0"/>
            <a:r>
              <a:rPr lang="en-US" dirty="0"/>
              <a:t>Components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8597" y="1935480"/>
            <a:ext cx="8866806" cy="4431503"/>
          </a:xfrm>
          <a:prstGeom prst="rect">
            <a:avLst/>
          </a:prstGeom>
        </p:spPr>
      </p:pic>
    </p:spTree>
    <p:extLst>
      <p:ext uri="{BB962C8B-B14F-4D97-AF65-F5344CB8AC3E}">
        <p14:creationId xmlns:p14="http://schemas.microsoft.com/office/powerpoint/2010/main" val="1529886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 Example </a:t>
            </a:r>
          </a:p>
        </p:txBody>
      </p:sp>
      <p:sp>
        <p:nvSpPr>
          <p:cNvPr id="3" name="Content Placeholder 2"/>
          <p:cNvSpPr>
            <a:spLocks noGrp="1"/>
          </p:cNvSpPr>
          <p:nvPr>
            <p:ph idx="1"/>
          </p:nvPr>
        </p:nvSpPr>
        <p:spPr/>
        <p:txBody>
          <a:bodyPr>
            <a:normAutofit fontScale="92500" lnSpcReduction="10000"/>
          </a:bodyPr>
          <a:lstStyle/>
          <a:p>
            <a:r>
              <a:rPr lang="en-US" dirty="0"/>
              <a:t>Studies quantifying value added of transit often cannot differentiate whether the premiums are transit effects or location effects. Limited studies have examined the timing of value added. </a:t>
            </a:r>
            <a:r>
              <a:rPr lang="en-US" dirty="0">
                <a:solidFill>
                  <a:srgbClr val="FF0000"/>
                </a:solidFill>
              </a:rPr>
              <a:t>Using before and after data, this study explores the impact of the Green Line LRT on housing sales prices. </a:t>
            </a:r>
            <a:r>
              <a:rPr lang="en-US" dirty="0"/>
              <a:t>Compared to the studied period before its funding announcement, its announcement increased housing values by $9.2/</a:t>
            </a:r>
            <a:r>
              <a:rPr lang="en-US" dirty="0" err="1"/>
              <a:t>sq</a:t>
            </a:r>
            <a:r>
              <a:rPr lang="en-US" dirty="0"/>
              <a:t> </a:t>
            </a:r>
            <a:r>
              <a:rPr lang="en-US" dirty="0" err="1"/>
              <a:t>ft</a:t>
            </a:r>
            <a:r>
              <a:rPr lang="en-US" dirty="0"/>
              <a:t> and its commencement increased sales prices by $13.7/</a:t>
            </a:r>
            <a:r>
              <a:rPr lang="en-US" dirty="0" err="1"/>
              <a:t>sq</a:t>
            </a:r>
            <a:r>
              <a:rPr lang="en-US" dirty="0"/>
              <a:t> ft. Further analyses show that housing value appreciation actually occurred after the announcement but before the commencement. </a:t>
            </a:r>
            <a:r>
              <a:rPr lang="en-US" dirty="0">
                <a:solidFill>
                  <a:srgbClr val="FF0000"/>
                </a:solidFill>
              </a:rPr>
              <a:t>Thus, using the right timing of value added is critical for value capture programs and benefit–cost analysis.</a:t>
            </a:r>
            <a:r>
              <a:rPr lang="en-US" i="1" dirty="0">
                <a:solidFill>
                  <a:srgbClr val="FF0000"/>
                </a:solidFill>
              </a:rPr>
              <a:t> </a:t>
            </a:r>
          </a:p>
          <a:p>
            <a:pPr marL="0" indent="0">
              <a:buNone/>
            </a:pPr>
            <a:endParaRPr lang="en-US" dirty="0"/>
          </a:p>
        </p:txBody>
      </p:sp>
    </p:spTree>
    <p:extLst>
      <p:ext uri="{BB962C8B-B14F-4D97-AF65-F5344CB8AC3E}">
        <p14:creationId xmlns:p14="http://schemas.microsoft.com/office/powerpoint/2010/main" val="178067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 JPER workshop</a:t>
            </a:r>
          </a:p>
        </p:txBody>
      </p:sp>
      <p:sp>
        <p:nvSpPr>
          <p:cNvPr id="3" name="Content Placeholder 2"/>
          <p:cNvSpPr>
            <a:spLocks noGrp="1"/>
          </p:cNvSpPr>
          <p:nvPr>
            <p:ph idx="1"/>
          </p:nvPr>
        </p:nvSpPr>
        <p:spPr/>
        <p:txBody>
          <a:bodyPr>
            <a:normAutofit/>
          </a:bodyPr>
          <a:lstStyle/>
          <a:p>
            <a:r>
              <a:rPr lang="en-US" dirty="0"/>
              <a:t>Why is it important? Editor, reviewer, reader </a:t>
            </a:r>
          </a:p>
          <a:p>
            <a:pPr lvl="0"/>
            <a:r>
              <a:rPr lang="en-US" dirty="0"/>
              <a:t>Succinct: 100 words maximum (JPER)</a:t>
            </a:r>
          </a:p>
          <a:p>
            <a:pPr lvl="0"/>
            <a:r>
              <a:rPr lang="en-US" dirty="0"/>
              <a:t>Components (JPER)</a:t>
            </a:r>
          </a:p>
          <a:p>
            <a:pPr lvl="1"/>
            <a:r>
              <a:rPr lang="en-US" dirty="0"/>
              <a:t>What is the issue addressed and why is it important for policy or practice?  What gaps or misunderstandings in the literature does the research fill or correct?</a:t>
            </a:r>
          </a:p>
          <a:p>
            <a:pPr lvl="1"/>
            <a:r>
              <a:rPr lang="en-US" dirty="0"/>
              <a:t>How was the research conducted?</a:t>
            </a:r>
          </a:p>
          <a:p>
            <a:pPr lvl="1"/>
            <a:r>
              <a:rPr lang="en-US" dirty="0"/>
              <a:t>What are the research findings?</a:t>
            </a:r>
          </a:p>
          <a:p>
            <a:pPr lvl="1"/>
            <a:r>
              <a:rPr lang="en-US" dirty="0"/>
              <a:t>What are the conclusions for policy or practice and the implications for further research?</a:t>
            </a:r>
          </a:p>
          <a:p>
            <a:endParaRPr lang="en-US" dirty="0"/>
          </a:p>
          <a:p>
            <a:endParaRPr lang="en-US" dirty="0"/>
          </a:p>
        </p:txBody>
      </p:sp>
    </p:spTree>
    <p:extLst>
      <p:ext uri="{BB962C8B-B14F-4D97-AF65-F5344CB8AC3E}">
        <p14:creationId xmlns:p14="http://schemas.microsoft.com/office/powerpoint/2010/main" val="1443983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457200" y="1935480"/>
            <a:ext cx="8229600" cy="4541520"/>
          </a:xfrm>
        </p:spPr>
        <p:txBody>
          <a:bodyPr>
            <a:normAutofit fontScale="92500" lnSpcReduction="10000"/>
          </a:bodyPr>
          <a:lstStyle/>
          <a:p>
            <a:r>
              <a:rPr lang="en-US" dirty="0"/>
              <a:t>3-4 paragraphs</a:t>
            </a:r>
          </a:p>
          <a:p>
            <a:endParaRPr lang="en-US" dirty="0"/>
          </a:p>
          <a:p>
            <a:r>
              <a:rPr lang="en-US" dirty="0"/>
              <a:t>Address Terry’s two questions in the first two paragraphs</a:t>
            </a:r>
          </a:p>
          <a:p>
            <a:pPr lvl="1"/>
            <a:r>
              <a:rPr lang="en-US" dirty="0"/>
              <a:t>Groundwork: “Is the groundwork adequately and clearly laid to guide readers into the topic that is being addressed?” </a:t>
            </a:r>
          </a:p>
          <a:p>
            <a:pPr lvl="1"/>
            <a:r>
              <a:rPr lang="en-US" dirty="0">
                <a:solidFill>
                  <a:srgbClr val="FF0000"/>
                </a:solidFill>
              </a:rPr>
              <a:t>Gaps/original contribution</a:t>
            </a:r>
            <a:r>
              <a:rPr lang="en-US" dirty="0"/>
              <a:t>: “Do they make the case that this is an important area for inquiry or examination?”</a:t>
            </a:r>
          </a:p>
          <a:p>
            <a:endParaRPr lang="en-US" dirty="0"/>
          </a:p>
          <a:p>
            <a:r>
              <a:rPr lang="en-US" dirty="0"/>
              <a:t>Introduce the objective, method, and specific research questions, and end with the organization of your paper</a:t>
            </a:r>
          </a:p>
          <a:p>
            <a:endParaRPr lang="en-US" dirty="0"/>
          </a:p>
          <a:p>
            <a:r>
              <a:rPr lang="en-US" dirty="0"/>
              <a:t>Statements vs. questions; free of jargon; discipline</a:t>
            </a:r>
          </a:p>
        </p:txBody>
      </p:sp>
    </p:spTree>
    <p:extLst>
      <p:ext uri="{BB962C8B-B14F-4D97-AF65-F5344CB8AC3E}">
        <p14:creationId xmlns:p14="http://schemas.microsoft.com/office/powerpoint/2010/main" val="2930631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83508-C90D-1E37-D729-7453D5D350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A069A6-D5A4-B38C-D7D3-B48C3DE69BC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16BACF9-B276-AE41-7033-45728065AD63}"/>
              </a:ext>
            </a:extLst>
          </p:cNvPr>
          <p:cNvPicPr>
            <a:picLocks noChangeAspect="1"/>
          </p:cNvPicPr>
          <p:nvPr/>
        </p:nvPicPr>
        <p:blipFill>
          <a:blip r:embed="rId2"/>
          <a:stretch>
            <a:fillRect/>
          </a:stretch>
        </p:blipFill>
        <p:spPr>
          <a:xfrm>
            <a:off x="0" y="2976762"/>
            <a:ext cx="9144000" cy="3580726"/>
          </a:xfrm>
          <a:prstGeom prst="rect">
            <a:avLst/>
          </a:prstGeom>
        </p:spPr>
      </p:pic>
      <p:pic>
        <p:nvPicPr>
          <p:cNvPr id="9" name="Picture 8">
            <a:extLst>
              <a:ext uri="{FF2B5EF4-FFF2-40B4-BE49-F238E27FC236}">
                <a16:creationId xmlns:a16="http://schemas.microsoft.com/office/drawing/2014/main" id="{3AE46AEC-6465-556E-9821-533EE6BB4652}"/>
              </a:ext>
            </a:extLst>
          </p:cNvPr>
          <p:cNvPicPr>
            <a:picLocks noChangeAspect="1"/>
          </p:cNvPicPr>
          <p:nvPr/>
        </p:nvPicPr>
        <p:blipFill>
          <a:blip r:embed="rId3"/>
          <a:stretch>
            <a:fillRect/>
          </a:stretch>
        </p:blipFill>
        <p:spPr>
          <a:xfrm>
            <a:off x="0" y="704088"/>
            <a:ext cx="9144000" cy="2197816"/>
          </a:xfrm>
          <a:prstGeom prst="rect">
            <a:avLst/>
          </a:prstGeom>
        </p:spPr>
      </p:pic>
    </p:spTree>
    <p:extLst>
      <p:ext uri="{BB962C8B-B14F-4D97-AF65-F5344CB8AC3E}">
        <p14:creationId xmlns:p14="http://schemas.microsoft.com/office/powerpoint/2010/main" val="1344829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sp>
        <p:nvSpPr>
          <p:cNvPr id="3" name="Content Placeholder 2"/>
          <p:cNvSpPr>
            <a:spLocks noGrp="1"/>
          </p:cNvSpPr>
          <p:nvPr>
            <p:ph idx="1"/>
          </p:nvPr>
        </p:nvSpPr>
        <p:spPr/>
        <p:txBody>
          <a:bodyPr>
            <a:normAutofit fontScale="92500" lnSpcReduction="20000"/>
          </a:bodyPr>
          <a:lstStyle/>
          <a:p>
            <a:r>
              <a:rPr lang="en-US" dirty="0"/>
              <a:t>For whom are you writing? </a:t>
            </a:r>
          </a:p>
          <a:p>
            <a:endParaRPr lang="en-US" dirty="0"/>
          </a:p>
          <a:p>
            <a:r>
              <a:rPr lang="en-US" dirty="0"/>
              <a:t>Why is it important? </a:t>
            </a:r>
          </a:p>
          <a:p>
            <a:pPr lvl="1"/>
            <a:r>
              <a:rPr lang="en-US" dirty="0"/>
              <a:t>To show your familiarity with the literature</a:t>
            </a:r>
          </a:p>
          <a:p>
            <a:pPr lvl="1"/>
            <a:r>
              <a:rPr lang="en-US" dirty="0"/>
              <a:t>To justify your “original” contributions to the field </a:t>
            </a:r>
          </a:p>
          <a:p>
            <a:endParaRPr lang="en-US" dirty="0"/>
          </a:p>
          <a:p>
            <a:r>
              <a:rPr lang="en-US" dirty="0"/>
              <a:t>Components</a:t>
            </a:r>
          </a:p>
          <a:p>
            <a:pPr lvl="1"/>
            <a:r>
              <a:rPr lang="en-US" dirty="0"/>
              <a:t>Summarize what is known and what is not known</a:t>
            </a:r>
          </a:p>
          <a:p>
            <a:pPr lvl="1"/>
            <a:r>
              <a:rPr lang="en-US" dirty="0"/>
              <a:t>Discuss the gaps or controversies in previous studies </a:t>
            </a:r>
          </a:p>
          <a:p>
            <a:pPr lvl="1"/>
            <a:r>
              <a:rPr lang="en-US" b="1" dirty="0"/>
              <a:t>Highlight the importance/consequences of these gaps</a:t>
            </a:r>
          </a:p>
          <a:p>
            <a:pPr lvl="1"/>
            <a:r>
              <a:rPr lang="en-US" dirty="0"/>
              <a:t>Formulate questions and present how to address the gaps/controversies</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blinds(horizontal)">
                                      <p:cBhvr>
                                        <p:cTn id="15" dur="500"/>
                                        <p:tgtEl>
                                          <p:spTgt spid="3">
                                            <p:txEl>
                                              <p:pRg st="7" end="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blinds(horizontal)">
                                      <p:cBhvr>
                                        <p:cTn id="18" dur="500"/>
                                        <p:tgtEl>
                                          <p:spTgt spid="3">
                                            <p:txEl>
                                              <p:pRg st="8" end="8"/>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blinds(horizontal)">
                                      <p:cBhvr>
                                        <p:cTn id="21" dur="500"/>
                                        <p:tgtEl>
                                          <p:spTgt spid="3">
                                            <p:txEl>
                                              <p:pRg st="9" end="9"/>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10" end="10"/>
                                            </p:txEl>
                                          </p:spTgt>
                                        </p:tgtEl>
                                        <p:attrNameLst>
                                          <p:attrName>style.visibility</p:attrName>
                                        </p:attrNameLst>
                                      </p:cBhvr>
                                      <p:to>
                                        <p:strVal val="visible"/>
                                      </p:to>
                                    </p:set>
                                    <p:animEffect transition="in" filter="blinds(horizontal)">
                                      <p:cBhvr>
                                        <p:cTn id="2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sp>
        <p:nvSpPr>
          <p:cNvPr id="3" name="Content Placeholder 2"/>
          <p:cNvSpPr>
            <a:spLocks noGrp="1"/>
          </p:cNvSpPr>
          <p:nvPr>
            <p:ph idx="1"/>
          </p:nvPr>
        </p:nvSpPr>
        <p:spPr/>
        <p:txBody>
          <a:bodyPr>
            <a:normAutofit/>
          </a:bodyPr>
          <a:lstStyle/>
          <a:p>
            <a:r>
              <a:rPr lang="en-US" dirty="0"/>
              <a:t>What papers should you cite?</a:t>
            </a:r>
          </a:p>
          <a:p>
            <a:pPr lvl="1"/>
            <a:r>
              <a:rPr lang="en-US" dirty="0"/>
              <a:t>Recent studies, classic papers </a:t>
            </a:r>
          </a:p>
          <a:p>
            <a:pPr lvl="1"/>
            <a:r>
              <a:rPr lang="en-US" dirty="0"/>
              <a:t>Target journals, top journals, potential reviewers</a:t>
            </a:r>
          </a:p>
          <a:p>
            <a:pPr lvl="1"/>
            <a:r>
              <a:rPr lang="en-US" dirty="0"/>
              <a:t>…</a:t>
            </a:r>
            <a:endParaRPr lang="en-US" dirty="0">
              <a:solidFill>
                <a:schemeClr val="bg1"/>
              </a:solidFill>
            </a:endParaRPr>
          </a:p>
          <a:p>
            <a:pPr>
              <a:buNone/>
            </a:pPr>
            <a:endParaRPr lang="en-US" dirty="0"/>
          </a:p>
        </p:txBody>
      </p:sp>
      <p:pic>
        <p:nvPicPr>
          <p:cNvPr id="5" name="Picture 4">
            <a:extLst>
              <a:ext uri="{FF2B5EF4-FFF2-40B4-BE49-F238E27FC236}">
                <a16:creationId xmlns:a16="http://schemas.microsoft.com/office/drawing/2014/main" id="{377D7788-B284-5F33-EA2B-10FDC66B0AF1}"/>
              </a:ext>
            </a:extLst>
          </p:cNvPr>
          <p:cNvPicPr>
            <a:picLocks noChangeAspect="1"/>
          </p:cNvPicPr>
          <p:nvPr/>
        </p:nvPicPr>
        <p:blipFill>
          <a:blip r:embed="rId3"/>
          <a:stretch>
            <a:fillRect/>
          </a:stretch>
        </p:blipFill>
        <p:spPr>
          <a:xfrm>
            <a:off x="3124200" y="3327718"/>
            <a:ext cx="5715000" cy="35102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p>
        </p:txBody>
      </p:sp>
      <p:sp>
        <p:nvSpPr>
          <p:cNvPr id="3" name="Content Placeholder 2"/>
          <p:cNvSpPr>
            <a:spLocks noGrp="1"/>
          </p:cNvSpPr>
          <p:nvPr>
            <p:ph idx="1"/>
          </p:nvPr>
        </p:nvSpPr>
        <p:spPr/>
        <p:txBody>
          <a:bodyPr>
            <a:normAutofit lnSpcReduction="10000"/>
          </a:bodyPr>
          <a:lstStyle/>
          <a:p>
            <a:r>
              <a:rPr lang="en-US" dirty="0"/>
              <a:t>What papers should you cite?</a:t>
            </a:r>
          </a:p>
          <a:p>
            <a:pPr lvl="1"/>
            <a:r>
              <a:rPr lang="en-US" dirty="0"/>
              <a:t>Recent studies, classic papers </a:t>
            </a:r>
          </a:p>
          <a:p>
            <a:pPr lvl="1"/>
            <a:r>
              <a:rPr lang="en-US" dirty="0"/>
              <a:t>Target journals, top journals, potential reviewers</a:t>
            </a:r>
          </a:p>
          <a:p>
            <a:pPr lvl="1"/>
            <a:r>
              <a:rPr lang="en-US" dirty="0"/>
              <a:t>…</a:t>
            </a:r>
            <a:endParaRPr lang="en-US" dirty="0">
              <a:solidFill>
                <a:schemeClr val="bg1"/>
              </a:solidFill>
            </a:endParaRPr>
          </a:p>
          <a:p>
            <a:endParaRPr lang="en-US" dirty="0"/>
          </a:p>
          <a:p>
            <a:r>
              <a:rPr lang="en-US" dirty="0"/>
              <a:t>Critique (vs. narrative)</a:t>
            </a:r>
          </a:p>
          <a:p>
            <a:pPr lvl="1"/>
            <a:r>
              <a:rPr lang="en-US" dirty="0"/>
              <a:t>It is highly recommended; to show your understanding</a:t>
            </a:r>
          </a:p>
          <a:p>
            <a:pPr lvl="1"/>
            <a:r>
              <a:rPr lang="en-US" dirty="0"/>
              <a:t>Highlight others’ contribution and weaknesses (gaps)</a:t>
            </a:r>
          </a:p>
          <a:p>
            <a:endParaRPr lang="en-US" dirty="0"/>
          </a:p>
          <a:p>
            <a:r>
              <a:rPr lang="en-US" dirty="0"/>
              <a:t>Theme</a:t>
            </a:r>
          </a:p>
          <a:p>
            <a:pPr>
              <a:buNone/>
            </a:pPr>
            <a:endParaRPr lang="en-US" dirty="0"/>
          </a:p>
        </p:txBody>
      </p:sp>
    </p:spTree>
    <p:extLst>
      <p:ext uri="{BB962C8B-B14F-4D97-AF65-F5344CB8AC3E}">
        <p14:creationId xmlns:p14="http://schemas.microsoft.com/office/powerpoint/2010/main" val="3818050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Content Placeholder 2"/>
          <p:cNvSpPr>
            <a:spLocks noGrp="1"/>
          </p:cNvSpPr>
          <p:nvPr>
            <p:ph idx="1"/>
          </p:nvPr>
        </p:nvSpPr>
        <p:spPr/>
        <p:txBody>
          <a:bodyPr>
            <a:normAutofit/>
          </a:bodyPr>
          <a:lstStyle/>
          <a:p>
            <a:r>
              <a:rPr lang="en-US" dirty="0"/>
              <a:t>KEY results: echo research questions in Introduction and gaps in Literature Review</a:t>
            </a:r>
          </a:p>
          <a:p>
            <a:endParaRPr lang="en-US" dirty="0"/>
          </a:p>
          <a:p>
            <a:r>
              <a:rPr lang="en-US" dirty="0"/>
              <a:t>Policy implications </a:t>
            </a:r>
          </a:p>
          <a:p>
            <a:pPr lvl="1"/>
            <a:r>
              <a:rPr lang="en-US" dirty="0"/>
              <a:t>Based on results but beyond the results</a:t>
            </a:r>
          </a:p>
          <a:p>
            <a:endParaRPr lang="en-US" dirty="0"/>
          </a:p>
          <a:p>
            <a:r>
              <a:rPr lang="en-US" dirty="0"/>
              <a:t>Limitations</a:t>
            </a:r>
          </a:p>
          <a:p>
            <a:pPr lvl="1"/>
            <a:r>
              <a:rPr lang="en-US" dirty="0"/>
              <a:t>Limitations + results vs. results + limitations</a:t>
            </a:r>
          </a:p>
          <a:p>
            <a:pPr lvl="1"/>
            <a:r>
              <a:rPr lang="en-US" dirty="0"/>
              <a:t>Limitations vs. recommendations</a:t>
            </a:r>
          </a:p>
          <a:p>
            <a:pPr lvl="1"/>
            <a:endParaRPr lang="en-US" dirty="0"/>
          </a:p>
        </p:txBody>
      </p:sp>
    </p:spTree>
    <p:extLst>
      <p:ext uri="{BB962C8B-B14F-4D97-AF65-F5344CB8AC3E}">
        <p14:creationId xmlns:p14="http://schemas.microsoft.com/office/powerpoint/2010/main" val="1960543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Framing and Writing</a:t>
            </a:r>
          </a:p>
        </p:txBody>
      </p:sp>
      <p:sp>
        <p:nvSpPr>
          <p:cNvPr id="3" name="Content Placeholder 2"/>
          <p:cNvSpPr>
            <a:spLocks noGrp="1"/>
          </p:cNvSpPr>
          <p:nvPr>
            <p:ph idx="1"/>
          </p:nvPr>
        </p:nvSpPr>
        <p:spPr/>
        <p:txBody>
          <a:bodyPr>
            <a:normAutofit/>
          </a:bodyPr>
          <a:lstStyle/>
          <a:p>
            <a:r>
              <a:rPr lang="en-US" dirty="0"/>
              <a:t>Backward writing</a:t>
            </a:r>
          </a:p>
          <a:p>
            <a:endParaRPr lang="en-US" dirty="0"/>
          </a:p>
          <a:p>
            <a:r>
              <a:rPr lang="en-US" dirty="0"/>
              <a:t>The first sentence is always the main point of the paragraph.</a:t>
            </a:r>
          </a:p>
          <a:p>
            <a:endParaRPr lang="en-US" dirty="0"/>
          </a:p>
          <a:p>
            <a:r>
              <a:rPr lang="en-US" dirty="0"/>
              <a:t>What is a good logic?</a:t>
            </a:r>
          </a:p>
          <a:p>
            <a:pPr lvl="1"/>
            <a:r>
              <a:rPr lang="en-US" dirty="0"/>
              <a:t>Between paragraphs</a:t>
            </a:r>
          </a:p>
          <a:p>
            <a:pPr lvl="1"/>
            <a:r>
              <a:rPr lang="en-US" dirty="0"/>
              <a:t>Within paragraphs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Plagiarism - by Pat Mokhtarian</a:t>
            </a:r>
          </a:p>
        </p:txBody>
      </p:sp>
      <p:sp>
        <p:nvSpPr>
          <p:cNvPr id="3" name="Content Placeholder 2"/>
          <p:cNvSpPr>
            <a:spLocks noGrp="1"/>
          </p:cNvSpPr>
          <p:nvPr>
            <p:ph idx="1"/>
          </p:nvPr>
        </p:nvSpPr>
        <p:spPr/>
        <p:txBody>
          <a:bodyPr>
            <a:normAutofit fontScale="85000" lnSpcReduction="20000"/>
          </a:bodyPr>
          <a:lstStyle/>
          <a:p>
            <a:r>
              <a:rPr lang="en-US" i="1" dirty="0"/>
              <a:t>“Plagiarism</a:t>
            </a:r>
            <a:r>
              <a:rPr lang="en-US" dirty="0"/>
              <a:t> is the use of other people’s words or ideas without giving them appropriate credit.   </a:t>
            </a:r>
          </a:p>
          <a:p>
            <a:r>
              <a:rPr lang="en-US" dirty="0"/>
              <a:t>This commonly happens in one of two ways:</a:t>
            </a:r>
          </a:p>
          <a:p>
            <a:pPr lvl="1"/>
            <a:r>
              <a:rPr lang="en-US" dirty="0"/>
              <a:t>You present an idea that you obtained from another source, without citing that source.</a:t>
            </a:r>
          </a:p>
          <a:p>
            <a:pPr lvl="1"/>
            <a:r>
              <a:rPr lang="en-US" dirty="0"/>
              <a:t>You cite the source for your idea, but you use the source’s exact words without enclosing them in quotation marks.” </a:t>
            </a:r>
          </a:p>
          <a:p>
            <a:pPr lvl="1"/>
            <a:endParaRPr lang="en-US" dirty="0"/>
          </a:p>
          <a:p>
            <a:r>
              <a:rPr lang="en-US" dirty="0"/>
              <a:t>https://www.ieee.org/publications/rights/plagiarism/id-plagiarism.html</a:t>
            </a:r>
          </a:p>
          <a:p>
            <a:pPr lvl="1"/>
            <a:r>
              <a:rPr lang="en-US" b="0" i="0" dirty="0">
                <a:solidFill>
                  <a:srgbClr val="000000"/>
                </a:solidFill>
                <a:effectLst/>
              </a:rPr>
              <a:t>“However, there are in fact degrees of plagiarism: one can steal an entire paper, or a section of a paper, or a page, a paragraph or a sentence. Even copying phrases without credit and quotation marks can be considered plagiarism. In other words, paraphrasing done improperly can qualify as plagiarism.”</a:t>
            </a:r>
            <a:endParaRPr lang="en-US" dirty="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8" name="Picture 4"/>
          <p:cNvPicPr>
            <a:picLocks noChangeAspect="1" noChangeArrowheads="1"/>
          </p:cNvPicPr>
          <p:nvPr/>
        </p:nvPicPr>
        <p:blipFill>
          <a:blip r:embed="rId3" cstate="print"/>
          <a:srcRect/>
          <a:stretch>
            <a:fillRect/>
          </a:stretch>
        </p:blipFill>
        <p:spPr bwMode="auto">
          <a:xfrm>
            <a:off x="228600" y="331593"/>
            <a:ext cx="8710613" cy="6526407"/>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Citation Examples – Concerns?</a:t>
            </a:r>
          </a:p>
        </p:txBody>
      </p:sp>
      <p:sp>
        <p:nvSpPr>
          <p:cNvPr id="3" name="Content Placeholder 2"/>
          <p:cNvSpPr>
            <a:spLocks noGrp="1"/>
          </p:cNvSpPr>
          <p:nvPr>
            <p:ph idx="1"/>
          </p:nvPr>
        </p:nvSpPr>
        <p:spPr/>
        <p:txBody>
          <a:bodyPr>
            <a:normAutofit fontScale="85000" lnSpcReduction="20000"/>
          </a:bodyPr>
          <a:lstStyle/>
          <a:p>
            <a:r>
              <a:rPr lang="en-US" dirty="0"/>
              <a:t>… Residential location plays a more important role in affecting driving behavior than residential self-selection. …</a:t>
            </a:r>
          </a:p>
          <a:p>
            <a:r>
              <a:rPr lang="en-US" dirty="0"/>
              <a:t>… Cao et al. (2010) concluded that residential location plays a more important role in affecting driving behavior than residential self-selection. …</a:t>
            </a:r>
          </a:p>
          <a:p>
            <a:r>
              <a:rPr lang="en-US" dirty="0"/>
              <a:t>… Cao et al. (2010) concluded that “residential location plays a more important role in affecting driving behavior than residential self-selection”. …</a:t>
            </a:r>
          </a:p>
          <a:p>
            <a:r>
              <a:rPr lang="en-US" dirty="0"/>
              <a:t>… Cao et al. (2010) concluded that residential self-selection plays a less important role in affecting driving behavior than residential location. …</a:t>
            </a:r>
          </a:p>
          <a:p>
            <a:r>
              <a:rPr lang="en-US" dirty="0"/>
              <a:t>… Cao et al. (2010) concluded that the impact of residential location on driving behavior exceeds that of residential self-selection. …</a:t>
            </a:r>
          </a:p>
          <a:p>
            <a:endParaRPr lang="en-US"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A few tips</a:t>
            </a:r>
          </a:p>
        </p:txBody>
      </p:sp>
      <p:sp>
        <p:nvSpPr>
          <p:cNvPr id="3" name="Content Placeholder 2"/>
          <p:cNvSpPr>
            <a:spLocks noGrp="1"/>
          </p:cNvSpPr>
          <p:nvPr>
            <p:ph idx="1"/>
          </p:nvPr>
        </p:nvSpPr>
        <p:spPr/>
        <p:txBody>
          <a:bodyPr>
            <a:normAutofit/>
          </a:bodyPr>
          <a:lstStyle/>
          <a:p>
            <a:endParaRPr lang="en-US" dirty="0"/>
          </a:p>
          <a:p>
            <a:r>
              <a:rPr lang="en-US" dirty="0"/>
              <a:t>Read and cite recent and relevant papers published in the journal you intend to submit your paper.</a:t>
            </a:r>
          </a:p>
          <a:p>
            <a:r>
              <a:rPr lang="en-US" dirty="0"/>
              <a:t>Highlight your unique contribution.</a:t>
            </a:r>
          </a:p>
          <a:p>
            <a:r>
              <a:rPr lang="en-US" dirty="0"/>
              <a:t>Use simple words to write simple sentences. </a:t>
            </a:r>
          </a:p>
          <a:p>
            <a:r>
              <a:rPr lang="en-US" dirty="0"/>
              <a:t>Editorial services: Do not irritate/frustrate reviewers with poor English.</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Tips for Publishing in &amp;#x0D;&amp;#x0A;Refereed Journals&amp;quot;&quot;/&gt;&lt;property id=&quot;20307&quot; value=&quot;256&quot;/&gt;&lt;/object&gt;&lt;object type=&quot;3&quot; unique_id=&quot;10005&quot;&gt;&lt;property id=&quot;20148&quot; value=&quot;5&quot;/&gt;&lt;property id=&quot;20300&quot; value=&quot;Slide 2 - &amp;quot;Research in Tenure Code&amp;quot;&quot;/&gt;&lt;property id=&quot;20307&quot; value=&quot;261&quot;/&gt;&lt;/object&gt;&lt;object type=&quot;3&quot; unique_id=&quot;10006&quot;&gt;&lt;property id=&quot;20148&quot; value=&quot;5&quot;/&gt;&lt;property id=&quot;20300&quot; value=&quot;Slide 3 - &amp;quot;My publication and review&amp;quot;&quot;/&gt;&lt;property id=&quot;20307&quot; value=&quot;275&quot;/&gt;&lt;/object&gt;&lt;object type=&quot;3&quot; unique_id=&quot;10007&quot;&gt;&lt;property id=&quot;20148&quot; value=&quot;5&quot;/&gt;&lt;property id=&quot;20300&quot; value=&quot;Slide 4 - &amp;quot;Outline&amp;quot;&quot;/&gt;&lt;property id=&quot;20307&quot; value=&quot;257&quot;/&gt;&lt;/object&gt;&lt;object type=&quot;3&quot; unique_id=&quot;10008&quot;&gt;&lt;property id=&quot;20148&quot; value=&quot;5&quot;/&gt;&lt;property id=&quot;20300&quot; value=&quot;Slide 5 - &amp;quot;Open Questions&amp;quot;&quot;/&gt;&lt;property id=&quot;20307&quot; value=&quot;274&quot;/&gt;&lt;/object&gt;&lt;object type=&quot;3&quot; unique_id=&quot;10009&quot;&gt;&lt;property id=&quot;20148&quot; value=&quot;5&quot;/&gt;&lt;property id=&quot;20300&quot; value=&quot;Slide 6 - &amp;quot;Abstract – JPER workshop&amp;quot;&quot;/&gt;&lt;property id=&quot;20307&quot; value=&quot;278&quot;/&gt;&lt;/object&gt;&lt;object type=&quot;3&quot; unique_id=&quot;10010&quot;&gt;&lt;property id=&quot;20148&quot; value=&quot;5&quot;/&gt;&lt;property id=&quot;20300&quot; value=&quot;Slide 7 - &amp;quot;Introduction&amp;quot;&quot;/&gt;&lt;property id=&quot;20307&quot; value=&quot;277&quot;/&gt;&lt;/object&gt;&lt;object type=&quot;3&quot; unique_id=&quot;10011&quot;&gt;&lt;property id=&quot;20148&quot; value=&quot;5&quot;/&gt;&lt;property id=&quot;20300&quot; value=&quot;Slide 8 - &amp;quot;Literature Review&amp;quot;&quot;/&gt;&lt;property id=&quot;20307&quot; value=&quot;269&quot;/&gt;&lt;/object&gt;&lt;object type=&quot;3&quot; unique_id=&quot;10012&quot;&gt;&lt;property id=&quot;20148&quot; value=&quot;5&quot;/&gt;&lt;property id=&quot;20300&quot; value=&quot;Slide 9 - &amp;quot;Tips&amp;quot;&quot;/&gt;&lt;property id=&quot;20307&quot; value=&quot;273&quot;/&gt;&lt;/object&gt;&lt;object type=&quot;3&quot; unique_id=&quot;10013&quot;&gt;&lt;property id=&quot;20148&quot; value=&quot;5&quot;/&gt;&lt;property id=&quot;20300&quot; value=&quot;Slide 10 - &amp;quot;Framing and Writing&amp;quot;&quot;/&gt;&lt;property id=&quot;20307&quot; value=&quot;279&quot;/&gt;&lt;/object&gt;&lt;object type=&quot;3&quot; unique_id=&quot;10014&quot;&gt;&lt;property id=&quot;20148&quot; value=&quot;5&quot;/&gt;&lt;property id=&quot;20300&quot; value=&quot;Slide 11 - &amp;quot;Questions&amp;quot;&quot;/&gt;&lt;property id=&quot;20307&quot; value=&quot;280&quot;/&gt;&lt;/object&gt;&lt;object type=&quot;3&quot; unique_id=&quot;10015&quot;&gt;&lt;property id=&quot;20148&quot; value=&quot;5&quot;/&gt;&lt;property id=&quot;20300&quot; value=&quot;Slide 12 - &amp;quot;Plagiarism -  by Pat Mokhtarian&amp;quot;&quot;/&gt;&lt;property id=&quot;20307&quot; value=&quot;270&quot;/&gt;&lt;/object&gt;&lt;object type=&quot;3&quot; unique_id=&quot;10018&quot;&gt;&lt;property id=&quot;20148&quot; value=&quot;5&quot;/&gt;&lt;property id=&quot;20300&quot; value=&quot;Slide 15 - &amp;quot;Review Process – Henry Yeung&amp;quot;&quot;/&gt;&lt;property id=&quot;20307&quot; value=&quot;267&quot;/&gt;&lt;/object&gt;&lt;object type=&quot;3&quot; unique_id=&quot;10019&quot;&gt;&lt;property id=&quot;20148&quot; value=&quot;5&quot;/&gt;&lt;property id=&quot;20300&quot; value=&quot;Slide 16 - &amp;quot;Review Process&amp;quot;&quot;/&gt;&lt;property id=&quot;20307&quot; value=&quot;268&quot;/&gt;&lt;/object&gt;&lt;object type=&quot;3&quot; unique_id=&quot;10020&quot;&gt;&lt;property id=&quot;20148&quot; value=&quot;5&quot;/&gt;&lt;property id=&quot;20300&quot; value=&quot;Slide 17 - &amp;quot;Review Process&amp;quot;&quot;/&gt;&lt;property id=&quot;20307&quot; value=&quot;282&quot;/&gt;&lt;/object&gt;&lt;object type=&quot;3&quot; unique_id=&quot;10021&quot;&gt;&lt;property id=&quot;20148&quot; value=&quot;5&quot;/&gt;&lt;property id=&quot;20300&quot; value=&quot;Slide 18 - &amp;quot;A few tips&amp;quot;&quot;/&gt;&lt;property id=&quot;20307&quot; value=&quot;265&quot;/&gt;&lt;/object&gt;&lt;object type=&quot;3&quot; unique_id=&quot;10202&quot;&gt;&lt;property id=&quot;20148&quot; value=&quot;5&quot;/&gt;&lt;property id=&quot;20300&quot; value=&quot;Slide 13&quot;/&gt;&lt;property id=&quot;20307&quot; value=&quot;283&quot;/&gt;&lt;/object&gt;&lt;object type=&quot;3&quot; unique_id=&quot;10203&quot;&gt;&lt;property id=&quot;20148&quot; value=&quot;5&quot;/&gt;&lt;property id=&quot;20300&quot; value=&quot;Slide 14 - &amp;quot;Citation Examples – Concerns?&amp;quot;&quot;/&gt;&lt;property id=&quot;20307&quot; value=&quot;284&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3405</TotalTime>
  <Words>1315</Words>
  <Application>Microsoft Office PowerPoint</Application>
  <PresentationFormat>On-screen Show (4:3)</PresentationFormat>
  <Paragraphs>171</Paragraphs>
  <Slides>20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Constantia</vt:lpstr>
      <vt:lpstr>Wingdings 2</vt:lpstr>
      <vt:lpstr>Flow</vt:lpstr>
      <vt:lpstr>Tips for Publishing Papers in Refereed Journals</vt:lpstr>
      <vt:lpstr>How to Review a Journal Article</vt:lpstr>
      <vt:lpstr>Outline</vt:lpstr>
      <vt:lpstr>An Effective Title</vt:lpstr>
      <vt:lpstr>Title and keywords</vt:lpstr>
      <vt:lpstr>Abstract</vt:lpstr>
      <vt:lpstr>An example</vt:lpstr>
      <vt:lpstr>An Example </vt:lpstr>
      <vt:lpstr>Abstract – JPER workshop</vt:lpstr>
      <vt:lpstr>Introduction</vt:lpstr>
      <vt:lpstr>PowerPoint Presentation</vt:lpstr>
      <vt:lpstr>Literature Review</vt:lpstr>
      <vt:lpstr>Literature Review</vt:lpstr>
      <vt:lpstr>Literature Review</vt:lpstr>
      <vt:lpstr>Conclusions</vt:lpstr>
      <vt:lpstr>Framing and Writing</vt:lpstr>
      <vt:lpstr>Plagiarism - by Pat Mokhtarian</vt:lpstr>
      <vt:lpstr>PowerPoint Presentation</vt:lpstr>
      <vt:lpstr>Citation Examples – Concerns?</vt:lpstr>
      <vt:lpstr>A few tips</vt:lpstr>
    </vt:vector>
  </TitlesOfParts>
  <Company>University of Minnesota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Jason</dc:creator>
  <cp:lastModifiedBy>Jason Cao</cp:lastModifiedBy>
  <cp:revision>291</cp:revision>
  <cp:lastPrinted>2012-12-03T02:32:41Z</cp:lastPrinted>
  <dcterms:created xsi:type="dcterms:W3CDTF">2010-10-26T00:52:17Z</dcterms:created>
  <dcterms:modified xsi:type="dcterms:W3CDTF">2026-04-07T02:37:07Z</dcterms:modified>
</cp:coreProperties>
</file>